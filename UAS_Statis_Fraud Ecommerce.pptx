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6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Transaksi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2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Bank Transfer</c:v>
                </c:pt>
                <c:pt idx="2">
                  <c:v>Debit Card</c:v>
                </c:pt>
                <c:pt idx="3">
                  <c:v>PayPal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368429</c:v>
                </c:pt>
                <c:pt idx="1">
                  <c:v>368278</c:v>
                </c:pt>
                <c:pt idx="2">
                  <c:v>368277</c:v>
                </c:pt>
                <c:pt idx="3">
                  <c:v>367968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99-4BEE-9AC1-791B2D66CC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 Fraud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6F-4C45-AF17-57B598D49B0A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6F-4C45-AF17-57B598D49B0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06F-4C45-AF17-57B598D49B0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06F-4C45-AF17-57B598D49B0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Non-Fraud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1399114</c:v>
                </c:pt>
                <c:pt idx="1">
                  <c:v>73838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6F-4C45-AF17-57B598D49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2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Fraud</c:v>
                </c:pt>
              </c:strCache>
            </c:strRef>
          </c:tx>
          <c:spPr>
            <a:solidFill>
              <a:srgbClr val="1C7293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75-412C-AE40-588F4DB10DAD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75-412C-AE40-588F4DB10DAD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75-412C-AE40-588F4DB10DAD}"/>
              </c:ext>
            </c:extLst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75-412C-AE40-588F4DB10DAD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2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PayPal</c:v>
                </c:pt>
                <c:pt idx="1">
                  <c:v>Bank Transfer</c:v>
                </c:pt>
                <c:pt idx="2">
                  <c:v>Credit Card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5.0199999999999996</c:v>
                </c:pt>
                <c:pt idx="1">
                  <c:v>5.04</c:v>
                </c:pt>
                <c:pt idx="2">
                  <c:v>4.97</c:v>
                </c:pt>
                <c:pt idx="3">
                  <c:v>5.0199999999999996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75-412C-AE40-588F4DB10D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2"/>
          <c:min val="4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8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5" name="Image 0" descr="/home/claude/build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7" name="Image 1" descr="/home/claude/build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98755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AKHIR — STATISTIKA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22402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Hubungan Metode Pembayaran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Risiko Fraud pada Transaksi E-Commerce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Independensi Chi-Square pada 1.472.952 Transaksi E-Commerce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4800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oleh 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Aris S.P (1482400055)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M.Fahreza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Rizky(1482400070)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:Kevin Christian(1482400071)</a:t>
            </a:r>
            <a:b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: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M.Yani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Ard(1482400064)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" y="5102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54041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— Universitas 17 Agustus 1945 Surabaya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22960" y="5687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Statistika • Juli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Pembahasan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0802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build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2448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920240" y="225856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Penelitian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29400" y="20802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build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24485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1856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452360" y="225856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 &amp; Tujuan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22960" y="34290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97280" y="38176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build/icons/d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398221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2024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1920240" y="39959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Metodologi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355080" y="34290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29400" y="38176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build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398221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3593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452360" y="39959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 (EDA)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822960" y="51663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97280" y="55549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home/claude/build/icons/calc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1872" y="57195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920240" y="5330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1920240" y="573328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Hipotesis Chi-Square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6355080" y="516636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629400" y="55549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/home/claude/build/icons/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992" y="5719572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52360" y="5330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26"/>
          <p:cNvSpPr/>
          <p:nvPr/>
        </p:nvSpPr>
        <p:spPr>
          <a:xfrm>
            <a:off x="7452360" y="573328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Hasil, Pembahasan &amp; Kesimpulan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192024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e-commerce tumbuh sangat pesat dan diikuti oleh meningkatnya variasi metode pembayaran digital (kartu kredit, kartu debit, transfer bank, dan dompet digital seperti PayPal).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transaksi online turut meningkatkan risiko kecurangan (fraud), yang dapat merugikan konsumen, merchant, maupun penyedia layanan pembayaran.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 anggapan umum bahwa metode pembayaran tertentu lebih rentan terhadap fraud dibanding metode lain, namun anggapan tersebut perlu diuji secara statistik, bukan sekadar intuisi.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Diperlukan pengujian hubungan antar variabel kategorik — dalam hal ini metode pembayaran dan status fraud — menggunakan uji Chi-Square Independensi pada data transaksi berskala besar.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80136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1.472.952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680960" y="2971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transaksi e-commerce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dianalisis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36118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89520" y="3721608"/>
            <a:ext cx="3611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5,01%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80960" y="4892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transaksi yang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teridentifikasi sebagai fraud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54864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Fraudulent E-Commerce Transaction Data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PENELITIAN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 Penelitian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8" name="Image 1" descr="/home/claude/build/icons/w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2093976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97280" y="26974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terdapat hubungan yang signifikan secara statistik antara metode pembayaran yang digunakan dengan tingkat risiko terjadinya fraud pada transaksi e-commerce?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97280" y="4297680"/>
            <a:ext cx="4709160" cy="0"/>
          </a:xfrm>
          <a:prstGeom prst="line">
            <a:avLst/>
          </a:prstGeom>
          <a:noFill/>
          <a:ln w="12700">
            <a:solidFill>
              <a:srgbClr val="3A478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97280" y="44348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yang diuji: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97280" y="47548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Pembayaran (kategorik: 4 kategori)</a:t>
            </a:r>
            <a:endParaRPr lang="en-US" sz="1300" dirty="0"/>
          </a:p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Fraud (kategorik: Fraud / Non-Fraud)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build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9397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83680" y="26974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ada atau tidaknya hubungan signifikan antara metode pembayaran dan status fraud transaksi.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metode pembayaran dengan persentase tingkat fraud tertinggi berdasarkan data.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uji Chi-Square Independensi sebagai dasar pengambilan keputusan berbasis data (data-driven).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rekomendasi awal terkait mitigasi risiko fraud pada sistem pembayaran e-commerce.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d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Sumber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01368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1.472.952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(Transaksi)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801368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383280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(Variabel)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1801368"/>
            <a:ext cx="2331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852160" y="2651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Hilang (Missing)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169164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0" y="1801368"/>
            <a:ext cx="2971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Fraudulent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321040" y="2651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Dataset (CSV)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3291840"/>
            <a:ext cx="1037844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97280" y="3456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 pada Dataset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38862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ID, Customer ID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Date, Transaction Hour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 ← variabel utama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Category, Quantity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3886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Age, Customer Location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Used, IP Address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Address, Billing Address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Fraudulent  ← variabel utama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 Days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fl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 Penelitian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1870862" cy="3383280"/>
          </a:xfrm>
          <a:prstGeom prst="roundRect">
            <a:avLst>
              <a:gd name="adj" fmla="val 3910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38351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438351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9" name="Image 1" descr="/home/claude/build/icons/d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223" y="315468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3657600"/>
            <a:ext cx="1651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Data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32688" y="4251960"/>
            <a:ext cx="16514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dataset transaksi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(CSV) via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693822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949854" y="2103120"/>
            <a:ext cx="1870862" cy="3383280"/>
          </a:xfrm>
          <a:prstGeom prst="roundRect">
            <a:avLst>
              <a:gd name="adj" fmla="val 3910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65246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356524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2" descr="/home/claude/build/icons/searc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118" y="315468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59582" y="3657600"/>
            <a:ext cx="1651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Pembersihan Data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059582" y="4251960"/>
            <a:ext cx="16514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missing value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kualitas 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(df.isnull, df.info)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820717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76749" y="2103120"/>
            <a:ext cx="1870862" cy="3383280"/>
          </a:xfrm>
          <a:prstGeom prst="roundRect">
            <a:avLst>
              <a:gd name="adj" fmla="val 3910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9214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56921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3" name="Image 3" descr="/home/claude/build/icons/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1012" y="315468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86477" y="3657600"/>
            <a:ext cx="1651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 (EDA)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186477" y="4251960"/>
            <a:ext cx="16514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metode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&amp; status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tabulasi silang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947611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203643" y="2103120"/>
            <a:ext cx="1870862" cy="3383280"/>
          </a:xfrm>
          <a:prstGeom prst="roundRect">
            <a:avLst>
              <a:gd name="adj" fmla="val 391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819034" y="23317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3"/>
          <p:cNvSpPr/>
          <p:nvPr/>
        </p:nvSpPr>
        <p:spPr>
          <a:xfrm>
            <a:off x="781903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30" name="Image 4" descr="/home/claude/build/icons/calc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6" y="3154680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3371" y="3657600"/>
            <a:ext cx="1651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Chi-Square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313371" y="4251960"/>
            <a:ext cx="16514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scipy.stats.chi2_contingency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α = 0,05,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3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074506" y="356616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9330538" y="2103120"/>
            <a:ext cx="1870862" cy="3383280"/>
          </a:xfrm>
          <a:prstGeom prst="roundRect">
            <a:avLst>
              <a:gd name="adj" fmla="val 3910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945929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29"/>
          <p:cNvSpPr/>
          <p:nvPr/>
        </p:nvSpPr>
        <p:spPr>
          <a:xfrm>
            <a:off x="9945929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37" name="Image 5" descr="/home/claude/build/icons/chec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4801" y="3154680"/>
            <a:ext cx="402336" cy="40233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440266" y="3657600"/>
            <a:ext cx="165140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&amp; Simpulan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440266" y="4251960"/>
            <a:ext cx="16514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p-value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α, tarik kesimpulan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rekomendasi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PRA-PEMROSESAN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Pemeriksaan Kualitas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Pengecekan Missing Value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→  seluruh 16 kolom bernilai 0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697480"/>
          <a:ext cx="4572000" cy="3200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Fraudulent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Age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Hour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17920" y="169164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193852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2" name="Image 1" descr="/home/claude/build/icons/war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06654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Anomali Data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92240" y="269748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Meskipun tidak ada nilai yang hilang (missing), hasil df.describe() menunjukkan nilai minimum pada kolom Customer Age adalah –16 tahun (negatif).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92240" y="38404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mengindikasikan adanya entry error / data tidak valid pada variabel usia, sehingga perlu menjadi catatan keterbatasan (limitation) penelitian — namun tidak memengaruhi variabel utama yang diuji (Payment Method &amp; Is Fraudulent).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5623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— min: –16  |  max: 86  |  mean: 34,5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Statistik Deskriptif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3276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47088"/>
            <a:ext cx="3276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226,77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Transaction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3880" y="1737360"/>
            <a:ext cx="3276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73880" y="1847088"/>
            <a:ext cx="3276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270,40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465320" y="315468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 Transaction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24800" y="1737360"/>
            <a:ext cx="3276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24800" y="1847088"/>
            <a:ext cx="3276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16240" y="315468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Quantity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transaksi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886200"/>
            <a:ext cx="3276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3995928"/>
            <a:ext cx="3276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34,51 thn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14400" y="530352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73880" y="3886200"/>
            <a:ext cx="3276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373880" y="3995928"/>
            <a:ext cx="3276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5,01%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4465320" y="530352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Fraud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Keseluruhan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24800" y="3886200"/>
            <a:ext cx="3276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24800" y="3995928"/>
            <a:ext cx="3276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179,6 hari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8016240" y="530352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Account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Days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df.describe() pada kolom numerik dataset (n = 1.472.952)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Metode Pembayaran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691640"/>
          <a:ext cx="66751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69164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0467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23774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 metode pembayaran memiliki proporsi penggunaan yang hampir merata, masing-masing berkisar 24,98%–25,01% dari total transaksi.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046720" y="3931920"/>
            <a:ext cx="2926080" cy="0"/>
          </a:xfrm>
          <a:prstGeom prst="line">
            <a:avLst/>
          </a:prstGeom>
          <a:noFill/>
          <a:ln w="12700">
            <a:solidFill>
              <a:srgbClr val="D7DE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0" y="41148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yang seimbang ini penting agar pengujian hubungan dengan status fraud tidak bias akibat ketidakseimbangan jumlah pengguna antar metode.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Status Fraud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64592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309360" y="16916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309360" y="180136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1.399.114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400800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Non-Fraud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(94,99%)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869680" y="16916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869680" y="1801368"/>
            <a:ext cx="2423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73.838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961120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Fraud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(5,01%)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3611880"/>
            <a:ext cx="4983480" cy="2514600"/>
          </a:xfrm>
          <a:prstGeom prst="roundRect">
            <a:avLst>
              <a:gd name="adj" fmla="val 2909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8368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583680" y="420624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bersifat sangat tidak seimbang (imbalanced) antar kelas — fraud hanya mencakup sekitar 1 dari 20 transaksi. Hal ini umum terjadi pada kasus deteksi fraud di dunia nyata, dan menjadi pertimbangan dalam membaca hasil uji statistik lanjutan.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Tabulasi Silang: Metode Pembayaran × Fraud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378440" cy="301752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Metode Pembayaran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Non-Fraud (0)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(1)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Fraud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349.491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367.968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Transfer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349.718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368.278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350.116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368.429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Card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349.789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368.277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1.399.114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73.838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1.472.952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2960" y="5029200"/>
            <a:ext cx="10378440" cy="1143000"/>
          </a:xfrm>
          <a:prstGeom prst="roundRect">
            <a:avLst>
              <a:gd name="adj" fmla="val 6400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8" name="Image 1" descr="/home/claude/build/icons/bul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285232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91640" y="51206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deskriptif, persentase fraud antar metode pembayaran sangat berdekatan — hanya berkisar 4,97% hingga 5,04% — dengan Bank Transfer mencatat persentase tertinggi secara nominal.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DATA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Persentase Fraud per Metode Pembayaran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1691640"/>
          <a:ext cx="69494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8001000" y="169164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7532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Utama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75320" y="23774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persentase fraud antar metode pembayaran sangat tipis — hanya sekitar 0,07 poin persentase (4,97%–5,04%).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75320" y="3749040"/>
            <a:ext cx="2834640" cy="0"/>
          </a:xfrm>
          <a:prstGeom prst="line">
            <a:avLst/>
          </a:prstGeom>
          <a:noFill/>
          <a:ln w="12700">
            <a:solidFill>
              <a:srgbClr val="3A478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393192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visual, perbedaan ini terlihat sangat kecil dan berpotensi hanya disebabkan oleh variasi acak (random chance) — perlu dikonfirmasi melalui uji statistik formal pada slide berikutnya.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calc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STATISTIK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Hipotesis &amp; Uji Chi-Square Independensi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  (Hipotesis Nol)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terdapat hubungan antara metode pembayaran dan status fraud pada transaksi e-commerce (kedua variabel independen).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 (Hipotesis Alternatif)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22402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Terdapat hubungan yang signifikan antara metode pembayaran dan status fraud pada transaksi e-commerce.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931920"/>
            <a:ext cx="1051560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972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Uji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97280" y="4572000"/>
            <a:ext cx="2343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4663440"/>
            <a:ext cx="2123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Uji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207008" y="5010912"/>
            <a:ext cx="2123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of Independence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(scipy.stats.chi2_contingency)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69030" y="4572000"/>
            <a:ext cx="2343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78758" y="4663440"/>
            <a:ext cx="2123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Kontingensi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778758" y="5010912"/>
            <a:ext cx="2123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pd.crosstab(Payment Method, Is Fraudulent)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berukuran 4 × 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40780" y="4572000"/>
            <a:ext cx="2343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0508" y="4663440"/>
            <a:ext cx="2123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Taraf Signifikansi (α)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350508" y="5010912"/>
            <a:ext cx="2123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12530" y="4572000"/>
            <a:ext cx="2343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22258" y="4663440"/>
            <a:ext cx="2123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Derajat Kebebasan (df)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922258" y="5010912"/>
            <a:ext cx="21236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(4−1) × (2−1) =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" y="55888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STATISTIK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Uji Chi-Square &amp; Keputusan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01368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2,0369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Chi-Square (χ²)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97680" y="1801368"/>
            <a:ext cx="3291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0,5648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8912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1691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0" y="1801368"/>
            <a:ext cx="3429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863840" y="30632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Derajat Kebebasan (df)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3749040"/>
            <a:ext cx="103784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97280" y="402336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1" descr="/home/claude/build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16052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28800" y="4041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Keputusan: Gagal Menolak H₀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097280" y="4617720"/>
            <a:ext cx="10012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p-value (0,5648) &gt; α (0,05), maka H₀ tidak ditolak. Artinya, secara statistik tidak terdapat cukup bukti untuk menyatakan adanya hubungan yang signifikan antara metode pembayaran dengan tingkat risiko fraud pada transaksi e-commerce.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97280" y="5486400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0,5648  &gt;  α 0,05   →   perbedaan persentase fraud antar metode (4,97%–5,04%) tergolong variasi acak, bukan pola yang signifikan.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• Analisis Chi-Square Fraud E-Commerce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943600" cy="59436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4" name="Image 0" descr="/home/claude/build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2588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Rekomendasi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26307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19456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Chi-Square menunjukkan χ² = 2,0369 dengan p-value = 0,5648 (df = 3).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terdapat hubungan signifikan antara metode pembayaran dan risiko fraud pada transaksi e-commerce (p &gt; 0,05).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fraud relatif seragam di seluruh metode pembayaran, berkisar 4,97%–5,04%.</a:t>
            </a:r>
            <a:endParaRPr lang="en-US" sz="1300" dirty="0"/>
          </a:p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mencatat persentase fraud tertinggi (5,04%), namun selisihnya tidak signifikan secara statistik.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60020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26307A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5080" y="219456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deteksi fraud sebaiknya tidak hanya berfokus pada jenis metode pembayaran, melainkan mempertimbangkan variabel lain seperti nominal transaksi, lokasi, perangkat, dan jam transaksi.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analisis lanjutan (misalnya regresi logistik atau machine learning) untuk mengidentifikasi kombinasi faktor yang paling berpengaruh terhadap risiko fraud.</a:t>
            </a:r>
            <a:endParaRPr lang="en-US" sz="1300" dirty="0"/>
          </a:p>
          <a:p>
            <a:pPr marL="342900" indent="-342900"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data (Customer Age negatif) perlu ditindaklanjuti dengan proses data cleaning yang lebih ketat pada penelitian selanjutnya.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1363</Words>
  <Application>Microsoft Office PowerPoint</Application>
  <PresentationFormat>Widescreen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Hubungan Metode Pembayaran dan Risiko Fraud pada Transaksi E-Commerce</dc:title>
  <dc:subject>PptxGenJS Presentation</dc:subject>
  <dc:creator>Mahasiswa Statistika</dc:creator>
  <cp:lastModifiedBy>Arissa Putra</cp:lastModifiedBy>
  <cp:revision>2</cp:revision>
  <dcterms:created xsi:type="dcterms:W3CDTF">2026-06-25T06:36:52Z</dcterms:created>
  <dcterms:modified xsi:type="dcterms:W3CDTF">2026-06-25T07:39:55Z</dcterms:modified>
</cp:coreProperties>
</file>